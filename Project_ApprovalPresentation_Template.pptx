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2"/>
    <p:sldId id="350" r:id="rId3"/>
    <p:sldId id="351" r:id="rId4"/>
    <p:sldId id="352" r:id="rId5"/>
    <p:sldId id="353" r:id="rId6"/>
    <p:sldId id="31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esit" initials="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9C237-22B3-3C9C-B9F9-74E31EBDF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83B38E-596F-C7C0-F554-1FF36ED2F5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4215D-D3CA-BFA9-26C4-9CBE6EB0E54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61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46E3C-8E30-B94F-80DC-82F18B35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C5330-EEA0-9446-8830-137A5A5ED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A8F1C-5E97-C18E-51BF-1D3F77EC5B5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17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2BD4F-71AC-84DC-A7D7-669DA1A28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06874-DE92-67DE-A53D-7466274094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AEDC7-82BF-F224-57DB-E4796E04E09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09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1CC69-45D1-513A-3F43-82A7C322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D29CA-066D-C1C7-3BAC-3F8E0D87AF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240CA-E141-D387-0AF7-0D695F94E39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6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>
            <a:cxnSpLocks/>
          </p:cNvCxnSpPr>
          <p:nvPr/>
        </p:nvCxnSpPr>
        <p:spPr>
          <a:xfrm>
            <a:off x="4181928" y="2770577"/>
            <a:ext cx="7322500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181928" y="2988643"/>
            <a:ext cx="4250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SRN : PES1PG25CA033 </a:t>
            </a:r>
            <a:endParaRPr lang="en-IN" sz="2400" b="1" dirty="0"/>
          </a:p>
        </p:txBody>
      </p:sp>
      <p:sp>
        <p:nvSpPr>
          <p:cNvPr id="17" name="Rectangle 16"/>
          <p:cNvSpPr/>
          <p:nvPr/>
        </p:nvSpPr>
        <p:spPr>
          <a:xfrm>
            <a:off x="4181928" y="3355577"/>
            <a:ext cx="4250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Name</a:t>
            </a:r>
            <a:r>
              <a:rPr lang="en-US" sz="2000" b="1" dirty="0"/>
              <a:t>: </a:t>
            </a:r>
            <a:r>
              <a:rPr lang="en-US" sz="2400" b="1" dirty="0"/>
              <a:t>Avirup Shyam </a:t>
            </a:r>
            <a:endParaRPr lang="en-IN" sz="2400" b="1" dirty="0"/>
          </a:p>
        </p:txBody>
      </p:sp>
      <p:grpSp>
        <p:nvGrpSpPr>
          <p:cNvPr id="23" name="Group 22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 26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9" name="Rectangle 18"/>
          <p:cNvSpPr/>
          <p:nvPr/>
        </p:nvSpPr>
        <p:spPr>
          <a:xfrm>
            <a:off x="4049877" y="1759028"/>
            <a:ext cx="785241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AquaYield: Predicting Crop Irrigation Needs Using Machine Learning</a:t>
            </a:r>
            <a:endParaRPr lang="en-IN" sz="3200" b="1" dirty="0">
              <a:solidFill>
                <a:schemeClr val="accent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20" y="1886067"/>
            <a:ext cx="2286000" cy="375310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D5BFDB9-7898-0C99-2B65-4373F301D6DB}"/>
              </a:ext>
            </a:extLst>
          </p:cNvPr>
          <p:cNvSpPr/>
          <p:nvPr/>
        </p:nvSpPr>
        <p:spPr>
          <a:xfrm>
            <a:off x="4181928" y="3738424"/>
            <a:ext cx="78524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Project Domain: Agriculture </a:t>
            </a:r>
            <a:endParaRPr lang="en-IN" sz="2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13C55E-8772-6FA2-9445-F51557127FC5}"/>
              </a:ext>
            </a:extLst>
          </p:cNvPr>
          <p:cNvSpPr/>
          <p:nvPr/>
        </p:nvSpPr>
        <p:spPr>
          <a:xfrm>
            <a:off x="4181928" y="4105358"/>
            <a:ext cx="46623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Goal: </a:t>
            </a:r>
            <a:r>
              <a:rPr lang="en-IN" sz="2400" b="1" dirty="0"/>
              <a:t>Zero Hunger</a:t>
            </a:r>
            <a:r>
              <a:rPr lang="en-US" sz="2400" b="1" dirty="0"/>
              <a:t> </a:t>
            </a:r>
            <a:endParaRPr lang="en-IN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1A4F1-6604-EC8D-938B-93B7D1F8C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251FB2-999F-55CC-4BB5-3848E22526C0}"/>
              </a:ext>
            </a:extLst>
          </p:cNvPr>
          <p:cNvSpPr/>
          <p:nvPr/>
        </p:nvSpPr>
        <p:spPr>
          <a:xfrm>
            <a:off x="361370" y="653530"/>
            <a:ext cx="799975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2">
                    <a:lumMod val="75000"/>
                  </a:schemeClr>
                </a:solidFill>
              </a:rPr>
              <a:t>Abstract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F19B87-3837-FB58-D3F6-55531456534D}"/>
              </a:ext>
            </a:extLst>
          </p:cNvPr>
          <p:cNvSpPr/>
          <p:nvPr/>
        </p:nvSpPr>
        <p:spPr>
          <a:xfrm>
            <a:off x="361370" y="162040"/>
            <a:ext cx="644017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AIML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2E2ACE-9F4A-51A8-C68E-F9A614701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452" y="407539"/>
            <a:ext cx="849665" cy="1428531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AC51183D-39D7-C8BD-52E9-641E1A071EE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986135" y="5732145"/>
            <a:ext cx="1205865" cy="112585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333FB6-F32E-E0CB-3297-9E8762B6437D}"/>
              </a:ext>
            </a:extLst>
          </p:cNvPr>
          <p:cNvCxnSpPr>
            <a:cxnSpLocks/>
          </p:cNvCxnSpPr>
          <p:nvPr/>
        </p:nvCxnSpPr>
        <p:spPr>
          <a:xfrm>
            <a:off x="-10636" y="1146151"/>
            <a:ext cx="1034547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>
            <a:extLst>
              <a:ext uri="{FF2B5EF4-FFF2-40B4-BE49-F238E27FC236}">
                <a16:creationId xmlns:a16="http://schemas.microsoft.com/office/drawing/2014/main" id="{15FC718C-2D61-73EE-216D-08871B730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129" y="888410"/>
            <a:ext cx="10844006" cy="4651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Inefficient irrigation wastes water and degrades soil, threatening global food security.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addresses SDG 2 (Zero Hunger) using ML.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 2,200 records, 7 features — N, P, K, temperature, humidity, pH, rainfall.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Irrigation label engineered using thresholds: low rainfall, high temperature, low humidity =   needs   irrigation.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 models trained: Logistic Regression (92.50%),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selected as best model — rainfall and humidity are top predictive features.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saved and deployed via Streamlit UI with real-time prediction using input sliders.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farmers reduce water waste and protect soil — supports sustainable agriculture. </a:t>
            </a:r>
          </a:p>
        </p:txBody>
      </p:sp>
    </p:spTree>
    <p:extLst>
      <p:ext uri="{BB962C8B-B14F-4D97-AF65-F5344CB8AC3E}">
        <p14:creationId xmlns:p14="http://schemas.microsoft.com/office/powerpoint/2010/main" val="320088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246B-BF2F-742D-9C09-F34891734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5E7888-E4C1-F92E-52D9-6D0C8B70E3C2}"/>
              </a:ext>
            </a:extLst>
          </p:cNvPr>
          <p:cNvSpPr/>
          <p:nvPr/>
        </p:nvSpPr>
        <p:spPr>
          <a:xfrm>
            <a:off x="361370" y="653530"/>
            <a:ext cx="799975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2">
                    <a:lumMod val="75000"/>
                  </a:schemeClr>
                </a:solidFill>
              </a:rPr>
              <a:t>Dataset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BBEBE4-41BD-7C0A-F900-D93D387A1AC7}"/>
              </a:ext>
            </a:extLst>
          </p:cNvPr>
          <p:cNvSpPr/>
          <p:nvPr/>
        </p:nvSpPr>
        <p:spPr>
          <a:xfrm>
            <a:off x="361370" y="162040"/>
            <a:ext cx="644017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AIML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5BEB55-3C51-D9DF-1F40-B79B3E269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452" y="407539"/>
            <a:ext cx="849665" cy="1428531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23486610-E4FC-3847-C585-79135FB4C4DD}"/>
              </a:ext>
            </a:extLst>
          </p:cNvPr>
          <p:cNvSpPr txBox="1"/>
          <p:nvPr/>
        </p:nvSpPr>
        <p:spPr>
          <a:xfrm>
            <a:off x="494641" y="1471449"/>
            <a:ext cx="11001790" cy="4937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cs typeface="Times New Roman" panose="02020603050405020304" charset="0"/>
              </a:rPr>
              <a:t>SourceURL</a:t>
            </a:r>
            <a:r>
              <a:rPr lang="en-US" sz="2400" dirty="0">
                <a:cs typeface="Times New Roman" panose="02020603050405020304" charset="0"/>
              </a:rPr>
              <a:t>:            </a:t>
            </a:r>
            <a:r>
              <a:rPr lang="en-US" sz="2400" b="1" dirty="0">
                <a:cs typeface="Times New Roman" panose="02020603050405020304" charset="0"/>
              </a:rPr>
              <a:t>https://www.kaggle.com/datasets/madhuraatmarambhagat/crop-recommendation-dataset 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Dataset Name: </a:t>
            </a:r>
            <a:r>
              <a:rPr lang="en-US" sz="2400" b="1" dirty="0">
                <a:cs typeface="Times New Roman" panose="02020603050405020304" charset="0"/>
              </a:rPr>
              <a:t>Crop Recommendation Dataset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Size / Shape: </a:t>
            </a:r>
            <a:r>
              <a:rPr lang="en-IN" sz="2400" b="1" dirty="0"/>
              <a:t>2200 rows × 8 columns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Simple description about the dataset: The </a:t>
            </a:r>
            <a:r>
              <a:rPr lang="en-US" sz="2400" b="1" dirty="0">
                <a:cs typeface="Times New Roman" panose="02020603050405020304" charset="0"/>
              </a:rPr>
              <a:t>Crop Recommendation Dataset </a:t>
            </a:r>
            <a:r>
              <a:rPr lang="en-US" sz="2400" dirty="0">
                <a:cs typeface="Times New Roman" panose="02020603050405020304" charset="0"/>
              </a:rPr>
              <a:t>contains soil nutrient and weather condition data for 22 different crop types. Each record includes Nitrogen (N), Phosphorus (P), Potassium (K), temperature, humidity, soil pH, and rainfall values, along with a crop label. The dataset is fully clean with no missing values and 100 samples per crop type, making it well-balanced for classification tasks.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F58FD939-7943-A729-0D08-7BC35DCB506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986135" y="5732145"/>
            <a:ext cx="1205865" cy="112585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E22C4B-22A6-63B2-5E38-EC125E2B3C06}"/>
              </a:ext>
            </a:extLst>
          </p:cNvPr>
          <p:cNvCxnSpPr>
            <a:cxnSpLocks/>
          </p:cNvCxnSpPr>
          <p:nvPr/>
        </p:nvCxnSpPr>
        <p:spPr>
          <a:xfrm>
            <a:off x="-10636" y="1146151"/>
            <a:ext cx="1034547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20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D03F5-D5A0-717A-136F-3A42CEC9D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120C3B-2131-DEBF-467A-139D39121C6A}"/>
              </a:ext>
            </a:extLst>
          </p:cNvPr>
          <p:cNvSpPr/>
          <p:nvPr/>
        </p:nvSpPr>
        <p:spPr>
          <a:xfrm>
            <a:off x="361370" y="653530"/>
            <a:ext cx="799975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2">
                    <a:lumMod val="75000"/>
                  </a:schemeClr>
                </a:solidFill>
              </a:rPr>
              <a:t>Dataset Snapshot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594E3C-205B-42F1-42E0-5C1ADC7C885B}"/>
              </a:ext>
            </a:extLst>
          </p:cNvPr>
          <p:cNvSpPr/>
          <p:nvPr/>
        </p:nvSpPr>
        <p:spPr>
          <a:xfrm>
            <a:off x="361370" y="162040"/>
            <a:ext cx="644017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AIML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9CF9AA-DF11-7270-45BC-D755ABEFD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452" y="407539"/>
            <a:ext cx="849665" cy="1428531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B22161C6-41A0-12A1-7A4C-24717E237D8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986135" y="5732145"/>
            <a:ext cx="1205865" cy="112585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873E39-DA4F-0C69-8C0E-ACA5B270B292}"/>
              </a:ext>
            </a:extLst>
          </p:cNvPr>
          <p:cNvCxnSpPr>
            <a:cxnSpLocks/>
          </p:cNvCxnSpPr>
          <p:nvPr/>
        </p:nvCxnSpPr>
        <p:spPr>
          <a:xfrm>
            <a:off x="-10636" y="1146151"/>
            <a:ext cx="1034547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52A7738-127A-FF8E-80B0-3221A8AFCC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2" y="1242649"/>
            <a:ext cx="7999758" cy="561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26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23BDF-7B20-58FA-24C9-7FFB4B938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B8FE261-9FEF-CC07-20A2-445EF2020F12}"/>
              </a:ext>
            </a:extLst>
          </p:cNvPr>
          <p:cNvSpPr/>
          <p:nvPr/>
        </p:nvSpPr>
        <p:spPr>
          <a:xfrm>
            <a:off x="361370" y="653530"/>
            <a:ext cx="799975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2">
                    <a:lumMod val="75000"/>
                  </a:schemeClr>
                </a:solidFill>
              </a:rPr>
              <a:t>Methodology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FA2A4A-EDA7-B9F5-7C33-8489FF3D3C93}"/>
              </a:ext>
            </a:extLst>
          </p:cNvPr>
          <p:cNvSpPr/>
          <p:nvPr/>
        </p:nvSpPr>
        <p:spPr>
          <a:xfrm>
            <a:off x="361370" y="162040"/>
            <a:ext cx="644017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AIML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736D9-8354-E12C-AB0F-16712A56D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452" y="407539"/>
            <a:ext cx="849665" cy="1428531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62D64CA4-34E4-BCD9-22CA-AE4AB6092FB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986135" y="5732145"/>
            <a:ext cx="1205865" cy="112585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731B4A-22E7-804B-9EE1-E1F83D409AD5}"/>
              </a:ext>
            </a:extLst>
          </p:cNvPr>
          <p:cNvCxnSpPr>
            <a:cxnSpLocks/>
          </p:cNvCxnSpPr>
          <p:nvPr/>
        </p:nvCxnSpPr>
        <p:spPr>
          <a:xfrm>
            <a:off x="-10636" y="1146151"/>
            <a:ext cx="1034547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">
            <a:extLst>
              <a:ext uri="{FF2B5EF4-FFF2-40B4-BE49-F238E27FC236}">
                <a16:creationId xmlns:a16="http://schemas.microsoft.com/office/drawing/2014/main" id="{6D4815FD-3D35-4F25-CA47-51F1E455D299}"/>
              </a:ext>
            </a:extLst>
          </p:cNvPr>
          <p:cNvSpPr txBox="1"/>
          <p:nvPr/>
        </p:nvSpPr>
        <p:spPr>
          <a:xfrm>
            <a:off x="494641" y="1471450"/>
            <a:ext cx="8915173" cy="27219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cs typeface="Times New Roman" panose="02020603050405020304" charset="0"/>
              </a:rPr>
              <a:t>Supervised Learning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What are you trying to do: </a:t>
            </a:r>
            <a:r>
              <a:rPr lang="en-US" sz="2400" b="1" dirty="0">
                <a:cs typeface="Times New Roman" panose="02020603050405020304" charset="0"/>
              </a:rPr>
              <a:t>Prediction - p</a:t>
            </a:r>
            <a:r>
              <a:rPr lang="en-US" sz="2400" b="1" dirty="0"/>
              <a:t>redicting whether a crop needs irrigation (1) or not (0)</a:t>
            </a:r>
            <a:endParaRPr lang="en-US" sz="2400" b="1" dirty="0">
              <a:cs typeface="Times New Roman" panose="02020603050405020304" charset="0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What is your choice of Algorithms (tentative) : </a:t>
            </a:r>
            <a:r>
              <a:rPr lang="en-IN" sz="2400" b="1" dirty="0"/>
              <a:t>Logistic Regression</a:t>
            </a:r>
            <a:endParaRPr lang="en-US" sz="2400" b="1" dirty="0">
              <a:cs typeface="Times New Roman" panose="02020603050405020304" charset="0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UI Tool (tentative): </a:t>
            </a:r>
            <a:r>
              <a:rPr lang="en-IN" sz="2400" b="1" dirty="0"/>
              <a:t>Streamlit</a:t>
            </a:r>
            <a:endParaRPr lang="en-US" sz="2400" b="1" dirty="0">
              <a:cs typeface="Times New Roman" panose="02020603050405020304" charset="0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Cloud Platform (tentative): </a:t>
            </a:r>
            <a:r>
              <a:rPr lang="en-IN" sz="2400" b="1" dirty="0"/>
              <a:t>Not Applicable yet (Local Deployment)</a:t>
            </a:r>
            <a:endParaRPr lang="en-US" sz="2400" b="1" dirty="0">
              <a:cs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912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 flipV="1">
            <a:off x="4287946" y="3935312"/>
            <a:ext cx="4581449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 26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9" name="Rectangle 18"/>
          <p:cNvSpPr/>
          <p:nvPr/>
        </p:nvSpPr>
        <p:spPr>
          <a:xfrm>
            <a:off x="5223612" y="3015532"/>
            <a:ext cx="27401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360" y="1702366"/>
            <a:ext cx="2306319" cy="35484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313</Words>
  <Application>Microsoft Office PowerPoint</Application>
  <PresentationFormat>Widescreen</PresentationFormat>
  <Paragraphs>32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ASUS ROG</cp:lastModifiedBy>
  <cp:revision>55</cp:revision>
  <dcterms:created xsi:type="dcterms:W3CDTF">2024-06-03T11:28:00Z</dcterms:created>
  <dcterms:modified xsi:type="dcterms:W3CDTF">2026-03-20T05:11:12Z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2D8CA44053184DF99CAFC51225B126E6_13</vt:lpwstr>
  </property>
  <property fmtid="{D5CDD505-2E9C-101B-9397-08002B2CF9AE}" pid="3" name="KSOProductBuildVer">
    <vt:lpwstr>1033-12.2.0.16909</vt:lpwstr>
  </property>
</Properties>
</file>